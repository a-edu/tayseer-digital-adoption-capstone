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9"/>
  </p:notesMasterIdLst>
  <p:sldIdLst>
    <p:sldId id="268" r:id="rId2"/>
    <p:sldId id="269" r:id="rId3"/>
    <p:sldId id="270" r:id="rId4"/>
    <p:sldId id="271" r:id="rId5"/>
    <p:sldId id="272" r:id="rId6"/>
    <p:sldId id="273" r:id="rId7"/>
    <p:sldId id="274" r:id="rId8"/>
  </p:sldIdLst>
  <p:sldSz cx="18288000" cy="10287000"/>
  <p:notesSz cx="6858000" cy="9144000"/>
  <p:embeddedFontLst>
    <p:embeddedFont>
      <p:font typeface="Neue Montreal"/>
      <p:regular r:id="rId10"/>
    </p:embeddedFont>
    <p:embeddedFont>
      <p:font typeface="Neue Montreal Bold"/>
      <p:regular r:id="rId11"/>
      <p:bold r:id="rId12"/>
    </p:embeddedFont>
    <p:embeddedFont>
      <p:font typeface="Neue Montreal Medium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3" autoAdjust="0"/>
    <p:restoredTop sz="94589" autoAdjust="0"/>
  </p:normalViewPr>
  <p:slideViewPr>
    <p:cSldViewPr>
      <p:cViewPr varScale="1">
        <p:scale>
          <a:sx n="77" d="100"/>
          <a:sy n="77" d="100"/>
        </p:scale>
        <p:origin x="536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29137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"/>
          <p:cNvSpPr txBox="1"/>
          <p:nvPr/>
        </p:nvSpPr>
        <p:spPr>
          <a:xfrm>
            <a:off x="950976" y="9336024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>
                <a:solidFill>
                  <a:srgbClr val="F5F5F5"/>
                </a:solidFill>
                <a:latin typeface="Neue Montreal"/>
              </a:rPr>
              <a:t>SDAIA Academy · SDA-DSC-112 Capstone</a:t>
            </a:r>
          </a:p>
        </p:txBody>
      </p:sp>
      <p:sp>
        <p:nvSpPr>
          <p:cNvPr id="7" name="Page number"/>
          <p:cNvSpPr txBox="1"/>
          <p:nvPr/>
        </p:nvSpPr>
        <p:spPr>
          <a:xfrm>
            <a:off x="14996159" y="9336024"/>
            <a:ext cx="233172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>
                <a:solidFill>
                  <a:srgbClr val="F5F5F5"/>
                </a:solidFill>
                <a:latin typeface="Neue Montreal"/>
              </a:rPr>
              <a:t>Page  01</a:t>
            </a:r>
          </a:p>
        </p:txBody>
      </p:sp>
      <p:sp>
        <p:nvSpPr>
          <p:cNvPr id="8" name="Eyebrow"/>
          <p:cNvSpPr txBox="1"/>
          <p:nvPr/>
        </p:nvSpPr>
        <p:spPr>
          <a:xfrm>
            <a:off x="950976" y="201168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0077FC"/>
                </a:solidFill>
                <a:latin typeface="Neue Montreal Bold"/>
              </a:rPr>
              <a:t>RECOMMENDATION · FOR DECISION TODAY</a:t>
            </a:r>
          </a:p>
        </p:txBody>
      </p:sp>
      <p:sp>
        <p:nvSpPr>
          <p:cNvPr id="9" name="Takeaway title"/>
          <p:cNvSpPr txBox="1"/>
          <p:nvPr/>
        </p:nvSpPr>
        <p:spPr>
          <a:xfrm>
            <a:off x="950976" y="2514600"/>
            <a:ext cx="10058400" cy="32918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5800" b="1">
                <a:solidFill>
                  <a:srgbClr val="FFFFFF"/>
                </a:solidFill>
                <a:latin typeface="Neue Montreal Bold"/>
              </a:rPr>
              <a:t>Direct the SAR 40M to the 8 regions below 65%, weighted by gap</a:t>
            </a:r>
          </a:p>
        </p:txBody>
      </p:sp>
      <p:sp>
        <p:nvSpPr>
          <p:cNvPr id="10" name="Big Idea"/>
          <p:cNvSpPr txBox="1"/>
          <p:nvPr/>
        </p:nvSpPr>
        <p:spPr>
          <a:xfrm>
            <a:off x="950976" y="6263640"/>
            <a:ext cx="9692640" cy="1463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400">
                <a:solidFill>
                  <a:srgbClr val="F5F5F5"/>
                </a:solidFill>
                <a:latin typeface="Neue Montreal"/>
              </a:rPr>
              <a:t>Tayseer is above target nationally at 66.2%, but 8 of 13 regions are not. Funding them by size of gap puts 87% of the money where the gap is widest.</a:t>
            </a:r>
          </a:p>
        </p:txBody>
      </p:sp>
      <p:sp>
        <p:nvSpPr>
          <p:cNvPr id="11" name="Presenters"/>
          <p:cNvSpPr txBox="1"/>
          <p:nvPr/>
        </p:nvSpPr>
        <p:spPr>
          <a:xfrm>
            <a:off x="630936" y="8348472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5000"/>
              </a:lnSpc>
            </a:pPr>
            <a:r>
              <a:rPr sz="1800" dirty="0">
                <a:solidFill>
                  <a:srgbClr val="B8B8B8"/>
                </a:solidFill>
                <a:latin typeface="Neue Montreal"/>
              </a:rPr>
              <a:t>Presented by </a:t>
            </a:r>
            <a:r>
              <a:rPr lang="en-US" dirty="0">
                <a:solidFill>
                  <a:srgbClr val="FFC24D"/>
                </a:solidFill>
                <a:latin typeface="Neue Montreal Medium"/>
              </a:rPr>
              <a:t>Abdulaziz Alfuraih – Abdulmajeed </a:t>
            </a:r>
            <a:r>
              <a:rPr lang="en-US" dirty="0" err="1">
                <a:solidFill>
                  <a:srgbClr val="FFC24D"/>
                </a:solidFill>
                <a:latin typeface="Neue Montreal Medium"/>
              </a:rPr>
              <a:t>Alnashwan</a:t>
            </a:r>
            <a:r>
              <a:rPr lang="en-US" dirty="0">
                <a:solidFill>
                  <a:srgbClr val="FFC24D"/>
                </a:solidFill>
                <a:latin typeface="Neue Montreal Medium"/>
              </a:rPr>
              <a:t> – Naif </a:t>
            </a:r>
            <a:r>
              <a:rPr lang="en-US" dirty="0" err="1">
                <a:solidFill>
                  <a:srgbClr val="FFC24D"/>
                </a:solidFill>
                <a:latin typeface="Neue Montreal Medium"/>
              </a:rPr>
              <a:t>Alsmari</a:t>
            </a:r>
            <a:r>
              <a:rPr lang="en-US" dirty="0">
                <a:solidFill>
                  <a:srgbClr val="FFC24D"/>
                </a:solidFill>
                <a:latin typeface="Neue Montreal Medium"/>
              </a:rPr>
              <a:t> – Khalid </a:t>
            </a:r>
            <a:r>
              <a:rPr lang="en-US" dirty="0" err="1">
                <a:solidFill>
                  <a:srgbClr val="FFC24D"/>
                </a:solidFill>
                <a:latin typeface="Neue Montreal Medium"/>
              </a:rPr>
              <a:t>Alhaidary</a:t>
            </a:r>
            <a:endParaRPr lang="en-US" dirty="0">
              <a:solidFill>
                <a:srgbClr val="FFC24D"/>
              </a:solidFill>
              <a:latin typeface="Neue Montreal Medium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endParaRPr sz="1800" dirty="0">
              <a:solidFill>
                <a:srgbClr val="FFC24D"/>
              </a:solidFill>
              <a:latin typeface="Neue Montreal Medium"/>
            </a:endParaRPr>
          </a:p>
        </p:txBody>
      </p:sp>
      <p:sp>
        <p:nvSpPr>
          <p:cNvPr id="12" name="Ask card"/>
          <p:cNvSpPr/>
          <p:nvPr/>
        </p:nvSpPr>
        <p:spPr>
          <a:xfrm>
            <a:off x="11384280" y="2011680"/>
            <a:ext cx="5943600" cy="6583680"/>
          </a:xfrm>
          <a:prstGeom prst="roundRect">
            <a:avLst>
              <a:gd name="adj" fmla="val 6000"/>
            </a:avLst>
          </a:prstGeom>
          <a:solidFill>
            <a:srgbClr val="007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932920" y="246888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Neue Montreal Bold"/>
              </a:rPr>
              <a:t>THE ASK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932920" y="2971800"/>
            <a:ext cx="4846320" cy="1280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Neue Montreal Bold"/>
              </a:rPr>
              <a:t>Approve SAR 40M, weighted by gap</a:t>
            </a:r>
          </a:p>
        </p:txBody>
      </p:sp>
      <p:sp>
        <p:nvSpPr>
          <p:cNvPr id="15" name="Allocation tier"/>
          <p:cNvSpPr/>
          <p:nvPr/>
        </p:nvSpPr>
        <p:spPr>
          <a:xfrm>
            <a:off x="11932920" y="4572000"/>
            <a:ext cx="4846320" cy="1188720"/>
          </a:xfrm>
          <a:prstGeom prst="roundRect">
            <a:avLst>
              <a:gd name="adj" fmla="val 12000"/>
            </a:avLst>
          </a:prstGeom>
          <a:solidFill>
            <a:srgbClr val="1A8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2207240" y="4754880"/>
            <a:ext cx="292608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Neue Montreal Bold"/>
              </a:rPr>
              <a:t>Far behind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813280" y="4754880"/>
            <a:ext cx="173736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Neue Montreal Bold"/>
              </a:rPr>
              <a:t>SAR 34.7M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207240" y="5230368"/>
            <a:ext cx="434340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>
                <a:solidFill>
                  <a:srgbClr val="D6E8FF"/>
                </a:solidFill>
                <a:latin typeface="Neue Montreal"/>
              </a:rPr>
              <a:t>Najran, N. Borders, Al-Baha, Jazan</a:t>
            </a:r>
          </a:p>
        </p:txBody>
      </p:sp>
      <p:sp>
        <p:nvSpPr>
          <p:cNvPr id="19" name="Allocation tier"/>
          <p:cNvSpPr/>
          <p:nvPr/>
        </p:nvSpPr>
        <p:spPr>
          <a:xfrm>
            <a:off x="11932920" y="5943600"/>
            <a:ext cx="4846320" cy="1188720"/>
          </a:xfrm>
          <a:prstGeom prst="roundRect">
            <a:avLst>
              <a:gd name="adj" fmla="val 12000"/>
            </a:avLst>
          </a:prstGeom>
          <a:solidFill>
            <a:srgbClr val="1A8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2207240" y="6126480"/>
            <a:ext cx="292608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Neue Montreal Bold"/>
              </a:rPr>
              <a:t>Almost there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0" y="6126480"/>
            <a:ext cx="173736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Neue Montreal Bold"/>
              </a:rPr>
              <a:t>SAR 5.3M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207240" y="6601968"/>
            <a:ext cx="434340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>
                <a:solidFill>
                  <a:srgbClr val="D6E8FF"/>
                </a:solidFill>
                <a:latin typeface="Neue Montreal"/>
              </a:rPr>
              <a:t>Asir, Tabuk, Hail, Al-Jouf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932920" y="7543800"/>
            <a:ext cx="4846320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>
                <a:solidFill>
                  <a:srgbClr val="FFFFFF"/>
                </a:solidFill>
                <a:latin typeface="Neue Montreal"/>
              </a:rPr>
              <a:t>with a monthly adoption checkpoint until December.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"/>
          <p:cNvSpPr txBox="1"/>
          <p:nvPr/>
        </p:nvSpPr>
        <p:spPr>
          <a:xfrm>
            <a:off x="950976" y="9336024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>
                <a:solidFill>
                  <a:srgbClr val="231F20"/>
                </a:solidFill>
                <a:latin typeface="Neue Montreal"/>
              </a:rPr>
              <a:t>SDAIA Academy · SDA-DSC-112 Capstone</a:t>
            </a:r>
          </a:p>
        </p:txBody>
      </p:sp>
      <p:sp>
        <p:nvSpPr>
          <p:cNvPr id="7" name="Page number"/>
          <p:cNvSpPr txBox="1"/>
          <p:nvPr/>
        </p:nvSpPr>
        <p:spPr>
          <a:xfrm>
            <a:off x="14996159" y="9336024"/>
            <a:ext cx="233172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>
                <a:solidFill>
                  <a:srgbClr val="231F20"/>
                </a:solidFill>
                <a:latin typeface="Neue Montreal"/>
              </a:rPr>
              <a:t>Page  02</a:t>
            </a:r>
          </a:p>
        </p:txBody>
      </p:sp>
      <p:sp>
        <p:nvSpPr>
          <p:cNvPr id="8" name="Takeaway title"/>
          <p:cNvSpPr txBox="1"/>
          <p:nvPr/>
        </p:nvSpPr>
        <p:spPr>
          <a:xfrm>
            <a:off x="950976" y="1417320"/>
            <a:ext cx="16367759" cy="1737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000" b="1" dirty="0">
                <a:solidFill>
                  <a:srgbClr val="231F20"/>
                </a:solidFill>
                <a:latin typeface="Neue Montreal Bold"/>
              </a:rPr>
              <a:t>Nationally, Tayseer is above target: adoption is 66.2%, 1.2 pts over 65%</a:t>
            </a:r>
          </a:p>
        </p:txBody>
      </p:sp>
      <p:sp>
        <p:nvSpPr>
          <p:cNvPr id="9" name="KPI card"/>
          <p:cNvSpPr/>
          <p:nvPr/>
        </p:nvSpPr>
        <p:spPr>
          <a:xfrm>
            <a:off x="950976" y="3429000"/>
            <a:ext cx="6035040" cy="3246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kpi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8176" y="4076699"/>
            <a:ext cx="5120640" cy="1950720"/>
          </a:xfrm>
          <a:prstGeom prst="rect">
            <a:avLst/>
          </a:prstGeom>
        </p:spPr>
      </p:pic>
      <p:sp>
        <p:nvSpPr>
          <p:cNvPr id="11" name="So-what card"/>
          <p:cNvSpPr/>
          <p:nvPr/>
        </p:nvSpPr>
        <p:spPr>
          <a:xfrm>
            <a:off x="950976" y="6949440"/>
            <a:ext cx="6035040" cy="196596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316736" y="7178040"/>
            <a:ext cx="5303520" cy="1554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0077FC"/>
                </a:solidFill>
                <a:latin typeface="Neue Montreal Bold"/>
              </a:rPr>
              <a:t>SO WHAT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>
                <a:solidFill>
                  <a:srgbClr val="231F20"/>
                </a:solidFill>
                <a:latin typeface="Neue Montreal"/>
              </a:rPr>
              <a:t>The national 65% goal is already met. The next question is whether every region has met it.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7536757-E28C-8AC9-D181-9BFC54B481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9080" y="3685032"/>
            <a:ext cx="10482336" cy="525534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"/>
          <p:cNvSpPr txBox="1"/>
          <p:nvPr/>
        </p:nvSpPr>
        <p:spPr>
          <a:xfrm>
            <a:off x="950976" y="9336024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>
                <a:solidFill>
                  <a:srgbClr val="F5F5F5"/>
                </a:solidFill>
                <a:latin typeface="Neue Montreal"/>
              </a:rPr>
              <a:t>SDAIA Academy · SDA-DSC-112 Capstone</a:t>
            </a:r>
          </a:p>
        </p:txBody>
      </p:sp>
      <p:sp>
        <p:nvSpPr>
          <p:cNvPr id="7" name="Page number"/>
          <p:cNvSpPr txBox="1"/>
          <p:nvPr/>
        </p:nvSpPr>
        <p:spPr>
          <a:xfrm>
            <a:off x="14996159" y="9336024"/>
            <a:ext cx="233172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>
                <a:solidFill>
                  <a:srgbClr val="F5F5F5"/>
                </a:solidFill>
                <a:latin typeface="Neue Montreal"/>
              </a:rPr>
              <a:t>Page  03</a:t>
            </a:r>
          </a:p>
        </p:txBody>
      </p:sp>
      <p:sp>
        <p:nvSpPr>
          <p:cNvPr id="8" name="Takeaway title"/>
          <p:cNvSpPr txBox="1"/>
          <p:nvPr/>
        </p:nvSpPr>
        <p:spPr>
          <a:xfrm>
            <a:off x="950976" y="1417320"/>
            <a:ext cx="16367759" cy="1737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000" b="1">
                <a:solidFill>
                  <a:srgbClr val="FFFFFF"/>
                </a:solidFill>
                <a:latin typeface="Neue Montreal Bold"/>
              </a:rPr>
              <a:t>8 of 13 regions are still below 65%, hidden by the national average</a:t>
            </a:r>
          </a:p>
        </p:txBody>
      </p:sp>
      <p:sp>
        <p:nvSpPr>
          <p:cNvPr id="9" name="Regional Adoption card"/>
          <p:cNvSpPr/>
          <p:nvPr/>
        </p:nvSpPr>
        <p:spPr>
          <a:xfrm>
            <a:off x="950976" y="3429000"/>
            <a:ext cx="10881360" cy="5486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region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9838" y="3703320"/>
            <a:ext cx="5843634" cy="49377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2252960" y="342900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0077FC"/>
                </a:solidFill>
                <a:latin typeface="Neue Montreal Bold"/>
              </a:rPr>
              <a:t>BELOW TARGET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179040" y="3429000"/>
            <a:ext cx="214884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0077FC"/>
                </a:solidFill>
                <a:latin typeface="Neue Montreal Bold"/>
              </a:rPr>
              <a:t>ADOPTION</a:t>
            </a:r>
          </a:p>
        </p:txBody>
      </p:sp>
      <p:sp>
        <p:nvSpPr>
          <p:cNvPr id="13" name="Region row"/>
          <p:cNvSpPr/>
          <p:nvPr/>
        </p:nvSpPr>
        <p:spPr>
          <a:xfrm>
            <a:off x="12252960" y="3931920"/>
            <a:ext cx="5074920" cy="530352"/>
          </a:xfrm>
          <a:prstGeom prst="roundRect">
            <a:avLst>
              <a:gd name="adj" fmla="val 20000"/>
            </a:avLst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527280" y="3931920"/>
            <a:ext cx="3108960" cy="53035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>
                <a:solidFill>
                  <a:srgbClr val="FFFFFF"/>
                </a:solidFill>
                <a:latin typeface="Neue Montreal Medium"/>
              </a:rPr>
              <a:t>Najran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0" y="3931920"/>
            <a:ext cx="1508760" cy="53035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900" b="1">
                <a:solidFill>
                  <a:srgbClr val="F07A72"/>
                </a:solidFill>
                <a:latin typeface="Neue Montreal Bold"/>
              </a:rPr>
              <a:t>60.9%</a:t>
            </a:r>
          </a:p>
        </p:txBody>
      </p:sp>
      <p:sp>
        <p:nvSpPr>
          <p:cNvPr id="16" name="Region row"/>
          <p:cNvSpPr/>
          <p:nvPr/>
        </p:nvSpPr>
        <p:spPr>
          <a:xfrm>
            <a:off x="12252960" y="4553712"/>
            <a:ext cx="5074920" cy="530352"/>
          </a:xfrm>
          <a:prstGeom prst="roundRect">
            <a:avLst>
              <a:gd name="adj" fmla="val 20000"/>
            </a:avLst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2527280" y="4553712"/>
            <a:ext cx="3108960" cy="53035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>
                <a:solidFill>
                  <a:srgbClr val="FFFFFF"/>
                </a:solidFill>
                <a:latin typeface="Neue Montreal Medium"/>
              </a:rPr>
              <a:t>Northern Borders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0" y="4553712"/>
            <a:ext cx="1508760" cy="53035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900" b="1">
                <a:solidFill>
                  <a:srgbClr val="F07A72"/>
                </a:solidFill>
                <a:latin typeface="Neue Montreal Bold"/>
              </a:rPr>
              <a:t>62.7%</a:t>
            </a:r>
          </a:p>
        </p:txBody>
      </p:sp>
      <p:sp>
        <p:nvSpPr>
          <p:cNvPr id="19" name="Region row"/>
          <p:cNvSpPr/>
          <p:nvPr/>
        </p:nvSpPr>
        <p:spPr>
          <a:xfrm>
            <a:off x="12252960" y="5175504"/>
            <a:ext cx="5074920" cy="530352"/>
          </a:xfrm>
          <a:prstGeom prst="roundRect">
            <a:avLst>
              <a:gd name="adj" fmla="val 20000"/>
            </a:avLst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2527280" y="5175504"/>
            <a:ext cx="3108960" cy="53035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>
                <a:solidFill>
                  <a:srgbClr val="FFFFFF"/>
                </a:solidFill>
                <a:latin typeface="Neue Montreal Medium"/>
              </a:rPr>
              <a:t>Al-Baha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0" y="5175504"/>
            <a:ext cx="1508760" cy="53035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900" b="1">
                <a:solidFill>
                  <a:srgbClr val="F07A72"/>
                </a:solidFill>
                <a:latin typeface="Neue Montreal Bold"/>
              </a:rPr>
              <a:t>62.8%</a:t>
            </a:r>
          </a:p>
        </p:txBody>
      </p:sp>
      <p:sp>
        <p:nvSpPr>
          <p:cNvPr id="22" name="Region row"/>
          <p:cNvSpPr/>
          <p:nvPr/>
        </p:nvSpPr>
        <p:spPr>
          <a:xfrm>
            <a:off x="12252960" y="5797296"/>
            <a:ext cx="5074920" cy="530352"/>
          </a:xfrm>
          <a:prstGeom prst="roundRect">
            <a:avLst>
              <a:gd name="adj" fmla="val 20000"/>
            </a:avLst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2527280" y="5797296"/>
            <a:ext cx="3108960" cy="53035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>
                <a:solidFill>
                  <a:srgbClr val="FFFFFF"/>
                </a:solidFill>
                <a:latin typeface="Neue Montreal Medium"/>
              </a:rPr>
              <a:t>Jazan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0" y="5797296"/>
            <a:ext cx="1508760" cy="53035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900" b="1">
                <a:solidFill>
                  <a:srgbClr val="F07A72"/>
                </a:solidFill>
                <a:latin typeface="Neue Montreal Bold"/>
              </a:rPr>
              <a:t>63.0%</a:t>
            </a:r>
          </a:p>
        </p:txBody>
      </p:sp>
      <p:sp>
        <p:nvSpPr>
          <p:cNvPr id="25" name="Region row"/>
          <p:cNvSpPr/>
          <p:nvPr/>
        </p:nvSpPr>
        <p:spPr>
          <a:xfrm>
            <a:off x="12252960" y="6419088"/>
            <a:ext cx="5074920" cy="530352"/>
          </a:xfrm>
          <a:prstGeom prst="roundRect">
            <a:avLst>
              <a:gd name="adj" fmla="val 20000"/>
            </a:avLst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2527280" y="6419088"/>
            <a:ext cx="3108960" cy="53035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>
                <a:solidFill>
                  <a:srgbClr val="FFFFFF"/>
                </a:solidFill>
                <a:latin typeface="Neue Montreal Medium"/>
              </a:rPr>
              <a:t>Asir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44800" y="6419088"/>
            <a:ext cx="1508760" cy="53035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900" b="1">
                <a:solidFill>
                  <a:srgbClr val="F07A72"/>
                </a:solidFill>
                <a:latin typeface="Neue Montreal Bold"/>
              </a:rPr>
              <a:t>64.4%</a:t>
            </a:r>
          </a:p>
        </p:txBody>
      </p:sp>
      <p:sp>
        <p:nvSpPr>
          <p:cNvPr id="28" name="Region row"/>
          <p:cNvSpPr/>
          <p:nvPr/>
        </p:nvSpPr>
        <p:spPr>
          <a:xfrm>
            <a:off x="12252960" y="7040880"/>
            <a:ext cx="5074920" cy="530352"/>
          </a:xfrm>
          <a:prstGeom prst="roundRect">
            <a:avLst>
              <a:gd name="adj" fmla="val 20000"/>
            </a:avLst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2527280" y="7040880"/>
            <a:ext cx="3108960" cy="53035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>
                <a:solidFill>
                  <a:srgbClr val="FFFFFF"/>
                </a:solidFill>
                <a:latin typeface="Neue Montreal Medium"/>
              </a:rPr>
              <a:t>Tabuk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544800" y="7040880"/>
            <a:ext cx="1508760" cy="53035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900" b="1">
                <a:solidFill>
                  <a:srgbClr val="F07A72"/>
                </a:solidFill>
                <a:latin typeface="Neue Montreal Bold"/>
              </a:rPr>
              <a:t>64.5%</a:t>
            </a:r>
          </a:p>
        </p:txBody>
      </p:sp>
      <p:sp>
        <p:nvSpPr>
          <p:cNvPr id="31" name="Region row"/>
          <p:cNvSpPr/>
          <p:nvPr/>
        </p:nvSpPr>
        <p:spPr>
          <a:xfrm>
            <a:off x="12252960" y="7662671"/>
            <a:ext cx="5074920" cy="530352"/>
          </a:xfrm>
          <a:prstGeom prst="roundRect">
            <a:avLst>
              <a:gd name="adj" fmla="val 20000"/>
            </a:avLst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2527280" y="7662671"/>
            <a:ext cx="3108960" cy="53035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>
                <a:solidFill>
                  <a:srgbClr val="FFFFFF"/>
                </a:solidFill>
                <a:latin typeface="Neue Montreal Medium"/>
              </a:rPr>
              <a:t>Hail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544800" y="7662671"/>
            <a:ext cx="1508760" cy="53035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900" b="1">
                <a:solidFill>
                  <a:srgbClr val="F07A72"/>
                </a:solidFill>
                <a:latin typeface="Neue Montreal Bold"/>
              </a:rPr>
              <a:t>64.7%</a:t>
            </a:r>
          </a:p>
        </p:txBody>
      </p:sp>
      <p:sp>
        <p:nvSpPr>
          <p:cNvPr id="34" name="Region row"/>
          <p:cNvSpPr/>
          <p:nvPr/>
        </p:nvSpPr>
        <p:spPr>
          <a:xfrm>
            <a:off x="12252960" y="8284464"/>
            <a:ext cx="5074920" cy="530352"/>
          </a:xfrm>
          <a:prstGeom prst="roundRect">
            <a:avLst>
              <a:gd name="adj" fmla="val 20000"/>
            </a:avLst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2527280" y="8284464"/>
            <a:ext cx="3108960" cy="53035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>
                <a:solidFill>
                  <a:srgbClr val="FFFFFF"/>
                </a:solidFill>
                <a:latin typeface="Neue Montreal Medium"/>
              </a:rPr>
              <a:t>Al-Jouf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544800" y="8284464"/>
            <a:ext cx="1508760" cy="53035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900" b="1">
                <a:solidFill>
                  <a:srgbClr val="F07A72"/>
                </a:solidFill>
                <a:latin typeface="Neue Montreal Bold"/>
              </a:rPr>
              <a:t>64.8%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age number"/>
          <p:cNvSpPr txBox="1"/>
          <p:nvPr/>
        </p:nvSpPr>
        <p:spPr>
          <a:xfrm>
            <a:off x="14996159" y="9336024"/>
            <a:ext cx="233172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>
                <a:solidFill>
                  <a:srgbClr val="231F20"/>
                </a:solidFill>
                <a:latin typeface="Neue Montreal"/>
              </a:rPr>
              <a:t>Page  04</a:t>
            </a:r>
          </a:p>
        </p:txBody>
      </p:sp>
      <p:sp>
        <p:nvSpPr>
          <p:cNvPr id="8" name="Takeaway title"/>
          <p:cNvSpPr txBox="1"/>
          <p:nvPr/>
        </p:nvSpPr>
        <p:spPr>
          <a:xfrm>
            <a:off x="950976" y="1417320"/>
            <a:ext cx="16367759" cy="1737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000" b="1" dirty="0">
                <a:solidFill>
                  <a:srgbClr val="231F20"/>
                </a:solidFill>
                <a:latin typeface="Neue Montreal Bold"/>
              </a:rPr>
              <a:t>Four regions are 2+ pts behind; four more are within 1 pt of the target</a:t>
            </a:r>
          </a:p>
        </p:txBody>
      </p:sp>
      <p:sp>
        <p:nvSpPr>
          <p:cNvPr id="15" name="Stat card"/>
          <p:cNvSpPr/>
          <p:nvPr/>
        </p:nvSpPr>
        <p:spPr>
          <a:xfrm>
            <a:off x="2854887" y="7978192"/>
            <a:ext cx="5074920" cy="164592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20647" y="8179360"/>
            <a:ext cx="438912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0077FC"/>
                </a:solidFill>
                <a:latin typeface="Neue Montreal Bold"/>
              </a:rPr>
              <a:t>FAR BEHIND · 4 REGIONS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20647" y="8481112"/>
            <a:ext cx="438912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600" b="1">
                <a:solidFill>
                  <a:srgbClr val="C4413A"/>
                </a:solidFill>
                <a:latin typeface="Neue Montreal Bold"/>
              </a:rPr>
              <a:t>2.0–4.1 pts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6526" y="9075471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dirty="0">
                <a:solidFill>
                  <a:srgbClr val="606060"/>
                </a:solidFill>
                <a:latin typeface="Neue Montreal"/>
              </a:rPr>
              <a:t>Najran, N. Borders, Al-Baha, </a:t>
            </a:r>
            <a:r>
              <a:rPr sz="1800" dirty="0" err="1">
                <a:solidFill>
                  <a:srgbClr val="606060"/>
                </a:solidFill>
                <a:latin typeface="Neue Montreal"/>
              </a:rPr>
              <a:t>Jazan</a:t>
            </a:r>
            <a:endParaRPr sz="1800" dirty="0">
              <a:solidFill>
                <a:srgbClr val="606060"/>
              </a:solidFill>
              <a:latin typeface="Neue Montreal"/>
            </a:endParaRPr>
          </a:p>
        </p:txBody>
      </p:sp>
      <p:sp>
        <p:nvSpPr>
          <p:cNvPr id="19" name="Stat card"/>
          <p:cNvSpPr/>
          <p:nvPr/>
        </p:nvSpPr>
        <p:spPr>
          <a:xfrm>
            <a:off x="10663062" y="7978192"/>
            <a:ext cx="5074920" cy="164592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1028822" y="8179360"/>
            <a:ext cx="438912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0077FC"/>
                </a:solidFill>
                <a:latin typeface="Neue Montreal Bold"/>
              </a:rPr>
              <a:t>ALMOST THERE · 4 REGIONS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28822" y="8481112"/>
            <a:ext cx="438912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600" b="1">
                <a:solidFill>
                  <a:srgbClr val="231F20"/>
                </a:solidFill>
                <a:latin typeface="Neue Montreal Bold"/>
              </a:rPr>
              <a:t>0.2–0.6 pts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28822" y="9075471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>
                <a:solidFill>
                  <a:srgbClr val="606060"/>
                </a:solidFill>
                <a:latin typeface="Neue Montreal"/>
              </a:rPr>
              <a:t>Asir, Tabuk, Hail, Al-Jouf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BD72A4C3-2B00-6644-8597-D073C2ABE5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3374575"/>
            <a:ext cx="14099683" cy="405344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"/>
          <p:cNvSpPr txBox="1"/>
          <p:nvPr/>
        </p:nvSpPr>
        <p:spPr>
          <a:xfrm>
            <a:off x="950976" y="9336024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>
                <a:solidFill>
                  <a:srgbClr val="F5F5F5"/>
                </a:solidFill>
                <a:latin typeface="Neue Montreal"/>
              </a:rPr>
              <a:t>SDAIA Academy · SDA-DSC-112 Capstone</a:t>
            </a:r>
          </a:p>
        </p:txBody>
      </p:sp>
      <p:sp>
        <p:nvSpPr>
          <p:cNvPr id="7" name="Page number"/>
          <p:cNvSpPr txBox="1"/>
          <p:nvPr/>
        </p:nvSpPr>
        <p:spPr>
          <a:xfrm>
            <a:off x="14996159" y="9336024"/>
            <a:ext cx="233172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>
                <a:solidFill>
                  <a:srgbClr val="F5F5F5"/>
                </a:solidFill>
                <a:latin typeface="Neue Montreal"/>
              </a:rPr>
              <a:t>Page  05</a:t>
            </a:r>
          </a:p>
        </p:txBody>
      </p:sp>
      <p:sp>
        <p:nvSpPr>
          <p:cNvPr id="8" name="Takeaway title"/>
          <p:cNvSpPr txBox="1"/>
          <p:nvPr/>
        </p:nvSpPr>
        <p:spPr>
          <a:xfrm>
            <a:off x="950976" y="1417320"/>
            <a:ext cx="16367759" cy="1737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000" b="1">
                <a:solidFill>
                  <a:srgbClr val="FFFFFF"/>
                </a:solidFill>
                <a:latin typeface="Neue Montreal Bold"/>
              </a:rPr>
              <a:t>There are three realistic ways to use the SAR 40M, each with a different trade-off</a:t>
            </a:r>
          </a:p>
        </p:txBody>
      </p:sp>
      <p:sp>
        <p:nvSpPr>
          <p:cNvPr id="9" name="Option A"/>
          <p:cNvSpPr/>
          <p:nvPr/>
        </p:nvSpPr>
        <p:spPr>
          <a:xfrm>
            <a:off x="950976" y="3429000"/>
            <a:ext cx="5257800" cy="5440680"/>
          </a:xfrm>
          <a:prstGeom prst="roundRect">
            <a:avLst>
              <a:gd name="adj" fmla="val 6000"/>
            </a:avLst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ption badge"/>
          <p:cNvSpPr/>
          <p:nvPr/>
        </p:nvSpPr>
        <p:spPr>
          <a:xfrm>
            <a:off x="1362456" y="3840480"/>
            <a:ext cx="731520" cy="731520"/>
          </a:xfrm>
          <a:prstGeom prst="ellipse">
            <a:avLst/>
          </a:prstGeom>
          <a:solidFill>
            <a:srgbClr val="007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362456" y="3840480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Neue Montreal Bold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62456" y="4800600"/>
            <a:ext cx="443484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Neue Montreal Bold"/>
              </a:rPr>
              <a:t>Spread evenly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62456" y="5715000"/>
            <a:ext cx="4434840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>
                <a:solidFill>
                  <a:srgbClr val="F5F5F5"/>
                </a:solidFill>
                <a:latin typeface="Neue Montreal"/>
              </a:rPr>
              <a:t>Split SAR 40M across all 13 regions, about SAR 3.1M each.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62456" y="6766560"/>
            <a:ext cx="4434840" cy="11887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>
                <a:solidFill>
                  <a:srgbClr val="F5F5F5"/>
                </a:solidFill>
                <a:latin typeface="Neue Montreal"/>
              </a:rPr>
              <a:t>+  Simple and seen as fair.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>
                <a:solidFill>
                  <a:srgbClr val="F5F5F5"/>
                </a:solidFill>
                <a:latin typeface="Neue Montreal"/>
              </a:rPr>
              <a:t>–  SAR 15.4M goes to 5 regions already above 65%.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62456" y="7955279"/>
            <a:ext cx="443484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0077FC"/>
                </a:solidFill>
                <a:latin typeface="Neue Montreal Bold"/>
              </a:rPr>
              <a:t>WHO BENEFITS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62456" y="8293608"/>
            <a:ext cx="443484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>
                <a:solidFill>
                  <a:srgbClr val="FFFFFF"/>
                </a:solidFill>
                <a:latin typeface="Neue Montreal Medium"/>
              </a:rPr>
              <a:t>All 13 regions</a:t>
            </a:r>
          </a:p>
        </p:txBody>
      </p:sp>
      <p:sp>
        <p:nvSpPr>
          <p:cNvPr id="17" name="Option B"/>
          <p:cNvSpPr/>
          <p:nvPr/>
        </p:nvSpPr>
        <p:spPr>
          <a:xfrm>
            <a:off x="6510528" y="3429000"/>
            <a:ext cx="5257800" cy="5440680"/>
          </a:xfrm>
          <a:prstGeom prst="roundRect">
            <a:avLst>
              <a:gd name="adj" fmla="val 6000"/>
            </a:avLst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ption badge"/>
          <p:cNvSpPr/>
          <p:nvPr/>
        </p:nvSpPr>
        <p:spPr>
          <a:xfrm>
            <a:off x="6922008" y="3840480"/>
            <a:ext cx="731520" cy="731520"/>
          </a:xfrm>
          <a:prstGeom prst="ellipse">
            <a:avLst/>
          </a:prstGeom>
          <a:solidFill>
            <a:srgbClr val="007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922008" y="3840480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Neue Montreal Bold"/>
              </a:rPr>
              <a:t>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22008" y="4800600"/>
            <a:ext cx="443484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Neue Montreal Bold"/>
              </a:rPr>
              <a:t>Target the 8 lagging regions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22008" y="5715000"/>
            <a:ext cx="4434840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>
                <a:solidFill>
                  <a:srgbClr val="F5F5F5"/>
                </a:solidFill>
                <a:latin typeface="Neue Montreal"/>
              </a:rPr>
              <a:t>Fund only the regions below 65%, weighted by each region's gap.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22008" y="6766560"/>
            <a:ext cx="4434840" cy="11887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>
                <a:solidFill>
                  <a:srgbClr val="F5F5F5"/>
                </a:solidFill>
                <a:latin typeface="Neue Montreal"/>
              </a:rPr>
              <a:t>+  Funds only regions with a gap.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>
                <a:solidFill>
                  <a:srgbClr val="F5F5F5"/>
                </a:solidFill>
                <a:latin typeface="Neue Montreal"/>
              </a:rPr>
              <a:t>–  No new funds for regions above 65%.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22008" y="7955279"/>
            <a:ext cx="443484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0077FC"/>
                </a:solidFill>
                <a:latin typeface="Neue Montreal Bold"/>
              </a:rPr>
              <a:t>WHO BENEFITS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22008" y="8293608"/>
            <a:ext cx="443484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>
                <a:solidFill>
                  <a:srgbClr val="FFFFFF"/>
                </a:solidFill>
                <a:latin typeface="Neue Montreal Medium"/>
              </a:rPr>
              <a:t>8 regions below 65%</a:t>
            </a:r>
          </a:p>
        </p:txBody>
      </p:sp>
      <p:sp>
        <p:nvSpPr>
          <p:cNvPr id="25" name="Option C"/>
          <p:cNvSpPr/>
          <p:nvPr/>
        </p:nvSpPr>
        <p:spPr>
          <a:xfrm>
            <a:off x="12070080" y="3429000"/>
            <a:ext cx="5257800" cy="5440680"/>
          </a:xfrm>
          <a:prstGeom prst="roundRect">
            <a:avLst>
              <a:gd name="adj" fmla="val 6000"/>
            </a:avLst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ption badge"/>
          <p:cNvSpPr/>
          <p:nvPr/>
        </p:nvSpPr>
        <p:spPr>
          <a:xfrm>
            <a:off x="12481559" y="3840480"/>
            <a:ext cx="731520" cy="731520"/>
          </a:xfrm>
          <a:prstGeom prst="ellipse">
            <a:avLst/>
          </a:prstGeom>
          <a:solidFill>
            <a:srgbClr val="007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2481559" y="3840480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Neue Montreal Bold"/>
              </a:rPr>
              <a:t>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481559" y="4800600"/>
            <a:ext cx="443484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Neue Montreal Bold"/>
              </a:rPr>
              <a:t>Fix one channel nationally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481559" y="5715000"/>
            <a:ext cx="4434840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>
                <a:solidFill>
                  <a:srgbClr val="F5F5F5"/>
                </a:solidFill>
                <a:latin typeface="Neue Montreal"/>
              </a:rPr>
              <a:t>Invest in one digital channel or service across all regions.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481559" y="6766560"/>
            <a:ext cx="4434840" cy="11887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>
                <a:solidFill>
                  <a:srgbClr val="F5F5F5"/>
                </a:solidFill>
                <a:latin typeface="Neue Montreal"/>
              </a:rPr>
              <a:t>+  Better experience for every user.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>
                <a:solidFill>
                  <a:srgbClr val="F5F5F5"/>
                </a:solidFill>
                <a:latin typeface="Neue Montreal"/>
              </a:rPr>
              <a:t>–  Not aimed at the regions below target.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481559" y="7955279"/>
            <a:ext cx="443484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0077FC"/>
                </a:solidFill>
                <a:latin typeface="Neue Montreal Bold"/>
              </a:rPr>
              <a:t>WHO BENEFITS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481559" y="8293608"/>
            <a:ext cx="443484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>
                <a:solidFill>
                  <a:srgbClr val="FFFFFF"/>
                </a:solidFill>
                <a:latin typeface="Neue Montreal Medium"/>
              </a:rPr>
              <a:t>Users of one channel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"/>
          <p:cNvSpPr txBox="1"/>
          <p:nvPr/>
        </p:nvSpPr>
        <p:spPr>
          <a:xfrm>
            <a:off x="950976" y="9336024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>
                <a:solidFill>
                  <a:srgbClr val="231F20"/>
                </a:solidFill>
                <a:latin typeface="Neue Montreal"/>
              </a:rPr>
              <a:t>SDAIA Academy · SDA-DSC-112 Capstone</a:t>
            </a:r>
          </a:p>
        </p:txBody>
      </p:sp>
      <p:sp>
        <p:nvSpPr>
          <p:cNvPr id="7" name="Page number"/>
          <p:cNvSpPr txBox="1"/>
          <p:nvPr/>
        </p:nvSpPr>
        <p:spPr>
          <a:xfrm>
            <a:off x="14996159" y="9336024"/>
            <a:ext cx="233172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>
                <a:solidFill>
                  <a:srgbClr val="231F20"/>
                </a:solidFill>
                <a:latin typeface="Neue Montreal"/>
              </a:rPr>
              <a:t>Page  06</a:t>
            </a:r>
          </a:p>
        </p:txBody>
      </p:sp>
      <p:sp>
        <p:nvSpPr>
          <p:cNvPr id="8" name="Takeaway title"/>
          <p:cNvSpPr txBox="1"/>
          <p:nvPr/>
        </p:nvSpPr>
        <p:spPr>
          <a:xfrm>
            <a:off x="950976" y="1417320"/>
            <a:ext cx="16367759" cy="1737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000" b="1">
                <a:solidFill>
                  <a:srgbClr val="231F20"/>
                </a:solidFill>
                <a:latin typeface="Neue Montreal Bold"/>
              </a:rPr>
              <a:t>Weight the SAR 40M by gap: 87% goes to the four furthest-behind regions</a:t>
            </a:r>
          </a:p>
        </p:txBody>
      </p:sp>
      <p:sp>
        <p:nvSpPr>
          <p:cNvPr id="9" name="Table header"/>
          <p:cNvSpPr/>
          <p:nvPr/>
        </p:nvSpPr>
        <p:spPr>
          <a:xfrm>
            <a:off x="950976" y="3429000"/>
            <a:ext cx="7863840" cy="502920"/>
          </a:xfrm>
          <a:prstGeom prst="roundRect">
            <a:avLst>
              <a:gd name="adj" fmla="val 20000"/>
            </a:avLst>
          </a:prstGeom>
          <a:solidFill>
            <a:srgbClr val="231F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71016" y="3429000"/>
            <a:ext cx="265176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Neue Montreal Bold"/>
              </a:rPr>
              <a:t>Region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22776" y="3429000"/>
            <a:ext cx="128016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Neue Montreal Bold"/>
              </a:rPr>
              <a:t>Adoption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02936" y="3429000"/>
            <a:ext cx="109728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Neue Montreal Bold"/>
              </a:rPr>
              <a:t>Gap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0216" y="3429000"/>
            <a:ext cx="109728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Neue Montreal Bold"/>
              </a:rPr>
              <a:t>Share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7496" y="3429000"/>
            <a:ext cx="109728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Neue Montreal Bold"/>
              </a:rPr>
              <a:t>SAR</a:t>
            </a:r>
          </a:p>
        </p:txBody>
      </p:sp>
      <p:sp>
        <p:nvSpPr>
          <p:cNvPr id="15" name="Table row"/>
          <p:cNvSpPr/>
          <p:nvPr/>
        </p:nvSpPr>
        <p:spPr>
          <a:xfrm>
            <a:off x="950976" y="4023360"/>
            <a:ext cx="7863840" cy="457200"/>
          </a:xfrm>
          <a:prstGeom prst="roundRect">
            <a:avLst>
              <a:gd name="adj" fmla="val 20000"/>
            </a:avLst>
          </a:prstGeom>
          <a:solidFill>
            <a:srgbClr val="FCE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271016" y="4023360"/>
            <a:ext cx="265176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>
                <a:solidFill>
                  <a:srgbClr val="231F20"/>
                </a:solidFill>
                <a:latin typeface="Neue Montreal Bold"/>
              </a:rPr>
              <a:t>Najran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22776" y="4023360"/>
            <a:ext cx="128016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700">
                <a:solidFill>
                  <a:srgbClr val="231F20"/>
                </a:solidFill>
                <a:latin typeface="Neue Montreal"/>
              </a:rPr>
              <a:t>60.9%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02936" y="4023360"/>
            <a:ext cx="109728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700">
                <a:solidFill>
                  <a:srgbClr val="231F20"/>
                </a:solidFill>
                <a:latin typeface="Neue Montreal"/>
              </a:rPr>
              <a:t>4.1 pts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216" y="4023360"/>
            <a:ext cx="109728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700">
                <a:solidFill>
                  <a:srgbClr val="231F20"/>
                </a:solidFill>
                <a:latin typeface="Neue Montreal"/>
              </a:rPr>
              <a:t>33.6%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97496" y="4023360"/>
            <a:ext cx="109728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700" b="1">
                <a:solidFill>
                  <a:srgbClr val="231F20"/>
                </a:solidFill>
                <a:latin typeface="Neue Montreal Bold"/>
              </a:rPr>
              <a:t>13.4M</a:t>
            </a:r>
          </a:p>
        </p:txBody>
      </p:sp>
      <p:sp>
        <p:nvSpPr>
          <p:cNvPr id="21" name="Table row"/>
          <p:cNvSpPr/>
          <p:nvPr/>
        </p:nvSpPr>
        <p:spPr>
          <a:xfrm>
            <a:off x="950976" y="4517136"/>
            <a:ext cx="7863840" cy="457200"/>
          </a:xfrm>
          <a:prstGeom prst="roundRect">
            <a:avLst>
              <a:gd name="adj" fmla="val 20000"/>
            </a:avLst>
          </a:prstGeom>
          <a:solidFill>
            <a:srgbClr val="FCE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271016" y="4517136"/>
            <a:ext cx="265176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>
                <a:solidFill>
                  <a:srgbClr val="231F20"/>
                </a:solidFill>
                <a:latin typeface="Neue Montreal Bold"/>
              </a:rPr>
              <a:t>Northern Borders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22776" y="4517136"/>
            <a:ext cx="128016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700">
                <a:solidFill>
                  <a:srgbClr val="231F20"/>
                </a:solidFill>
                <a:latin typeface="Neue Montreal"/>
              </a:rPr>
              <a:t>62.7%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02936" y="4517136"/>
            <a:ext cx="109728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700">
                <a:solidFill>
                  <a:srgbClr val="231F20"/>
                </a:solidFill>
                <a:latin typeface="Neue Montreal"/>
              </a:rPr>
              <a:t>2.3 pts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0216" y="4517136"/>
            <a:ext cx="109728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700">
                <a:solidFill>
                  <a:srgbClr val="231F20"/>
                </a:solidFill>
                <a:latin typeface="Neue Montreal"/>
              </a:rPr>
              <a:t>18.9%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97496" y="4517136"/>
            <a:ext cx="109728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700" b="1">
                <a:solidFill>
                  <a:srgbClr val="231F20"/>
                </a:solidFill>
                <a:latin typeface="Neue Montreal Bold"/>
              </a:rPr>
              <a:t>7.5M</a:t>
            </a:r>
          </a:p>
        </p:txBody>
      </p:sp>
      <p:sp>
        <p:nvSpPr>
          <p:cNvPr id="27" name="Table row"/>
          <p:cNvSpPr/>
          <p:nvPr/>
        </p:nvSpPr>
        <p:spPr>
          <a:xfrm>
            <a:off x="950976" y="5010912"/>
            <a:ext cx="7863840" cy="457200"/>
          </a:xfrm>
          <a:prstGeom prst="roundRect">
            <a:avLst>
              <a:gd name="adj" fmla="val 20000"/>
            </a:avLst>
          </a:prstGeom>
          <a:solidFill>
            <a:srgbClr val="FCE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271016" y="5010912"/>
            <a:ext cx="265176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>
                <a:solidFill>
                  <a:srgbClr val="231F20"/>
                </a:solidFill>
                <a:latin typeface="Neue Montreal Bold"/>
              </a:rPr>
              <a:t>Al-Baha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22776" y="5010912"/>
            <a:ext cx="128016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700">
                <a:solidFill>
                  <a:srgbClr val="231F20"/>
                </a:solidFill>
                <a:latin typeface="Neue Montreal"/>
              </a:rPr>
              <a:t>62.8%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02936" y="5010912"/>
            <a:ext cx="109728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700">
                <a:solidFill>
                  <a:srgbClr val="231F20"/>
                </a:solidFill>
                <a:latin typeface="Neue Montreal"/>
              </a:rPr>
              <a:t>2.2 pts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0216" y="5010912"/>
            <a:ext cx="109728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700">
                <a:solidFill>
                  <a:srgbClr val="231F20"/>
                </a:solidFill>
                <a:latin typeface="Neue Montreal"/>
              </a:rPr>
              <a:t>18.0%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97496" y="5010912"/>
            <a:ext cx="109728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700" b="1">
                <a:solidFill>
                  <a:srgbClr val="231F20"/>
                </a:solidFill>
                <a:latin typeface="Neue Montreal Bold"/>
              </a:rPr>
              <a:t>7.2M</a:t>
            </a:r>
          </a:p>
        </p:txBody>
      </p:sp>
      <p:sp>
        <p:nvSpPr>
          <p:cNvPr id="33" name="Table row"/>
          <p:cNvSpPr/>
          <p:nvPr/>
        </p:nvSpPr>
        <p:spPr>
          <a:xfrm>
            <a:off x="950976" y="5504688"/>
            <a:ext cx="7863840" cy="457200"/>
          </a:xfrm>
          <a:prstGeom prst="roundRect">
            <a:avLst>
              <a:gd name="adj" fmla="val 20000"/>
            </a:avLst>
          </a:prstGeom>
          <a:solidFill>
            <a:srgbClr val="FCE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271016" y="5504688"/>
            <a:ext cx="265176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>
                <a:solidFill>
                  <a:srgbClr val="231F20"/>
                </a:solidFill>
                <a:latin typeface="Neue Montreal Bold"/>
              </a:rPr>
              <a:t>Jazan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922776" y="5504688"/>
            <a:ext cx="128016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700">
                <a:solidFill>
                  <a:srgbClr val="231F20"/>
                </a:solidFill>
                <a:latin typeface="Neue Montreal"/>
              </a:rPr>
              <a:t>63.0%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02936" y="5504688"/>
            <a:ext cx="109728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700">
                <a:solidFill>
                  <a:srgbClr val="231F20"/>
                </a:solidFill>
                <a:latin typeface="Neue Montreal"/>
              </a:rPr>
              <a:t>2.0 pts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0216" y="5504688"/>
            <a:ext cx="109728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700">
                <a:solidFill>
                  <a:srgbClr val="231F20"/>
                </a:solidFill>
                <a:latin typeface="Neue Montreal"/>
              </a:rPr>
              <a:t>16.4%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97496" y="5504688"/>
            <a:ext cx="109728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700" b="1">
                <a:solidFill>
                  <a:srgbClr val="231F20"/>
                </a:solidFill>
                <a:latin typeface="Neue Montreal Bold"/>
              </a:rPr>
              <a:t>6.6M</a:t>
            </a:r>
          </a:p>
        </p:txBody>
      </p:sp>
      <p:sp>
        <p:nvSpPr>
          <p:cNvPr id="39" name="Table row"/>
          <p:cNvSpPr/>
          <p:nvPr/>
        </p:nvSpPr>
        <p:spPr>
          <a:xfrm>
            <a:off x="950976" y="5998464"/>
            <a:ext cx="7863840" cy="457200"/>
          </a:xfrm>
          <a:prstGeom prst="roundRect">
            <a:avLst>
              <a:gd name="adj" fmla="val 20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271016" y="5998464"/>
            <a:ext cx="265176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>
                <a:solidFill>
                  <a:srgbClr val="231F20"/>
                </a:solidFill>
                <a:latin typeface="Neue Montreal Bold"/>
              </a:rPr>
              <a:t>Asir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922776" y="5998464"/>
            <a:ext cx="128016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700">
                <a:solidFill>
                  <a:srgbClr val="231F20"/>
                </a:solidFill>
                <a:latin typeface="Neue Montreal"/>
              </a:rPr>
              <a:t>64.4%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202936" y="5998464"/>
            <a:ext cx="109728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700">
                <a:solidFill>
                  <a:srgbClr val="231F20"/>
                </a:solidFill>
                <a:latin typeface="Neue Montreal"/>
              </a:rPr>
              <a:t>0.6 pts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00216" y="5998464"/>
            <a:ext cx="109728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700">
                <a:solidFill>
                  <a:srgbClr val="231F20"/>
                </a:solidFill>
                <a:latin typeface="Neue Montreal"/>
              </a:rPr>
              <a:t>4.9%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97496" y="5998464"/>
            <a:ext cx="109728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700" b="1">
                <a:solidFill>
                  <a:srgbClr val="231F20"/>
                </a:solidFill>
                <a:latin typeface="Neue Montreal Bold"/>
              </a:rPr>
              <a:t>2.0M</a:t>
            </a:r>
          </a:p>
        </p:txBody>
      </p:sp>
      <p:sp>
        <p:nvSpPr>
          <p:cNvPr id="45" name="Table row"/>
          <p:cNvSpPr/>
          <p:nvPr/>
        </p:nvSpPr>
        <p:spPr>
          <a:xfrm>
            <a:off x="950976" y="6492240"/>
            <a:ext cx="7863840" cy="457200"/>
          </a:xfrm>
          <a:prstGeom prst="roundRect">
            <a:avLst>
              <a:gd name="adj" fmla="val 20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271016" y="6492240"/>
            <a:ext cx="265176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>
                <a:solidFill>
                  <a:srgbClr val="231F20"/>
                </a:solidFill>
                <a:latin typeface="Neue Montreal Bold"/>
              </a:rPr>
              <a:t>Tabuk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922776" y="6492240"/>
            <a:ext cx="128016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700">
                <a:solidFill>
                  <a:srgbClr val="231F20"/>
                </a:solidFill>
                <a:latin typeface="Neue Montreal"/>
              </a:rPr>
              <a:t>64.5%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202936" y="6492240"/>
            <a:ext cx="109728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700">
                <a:solidFill>
                  <a:srgbClr val="231F20"/>
                </a:solidFill>
                <a:latin typeface="Neue Montreal"/>
              </a:rPr>
              <a:t>0.5 pts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00216" y="6492240"/>
            <a:ext cx="109728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700">
                <a:solidFill>
                  <a:srgbClr val="231F20"/>
                </a:solidFill>
                <a:latin typeface="Neue Montreal"/>
              </a:rPr>
              <a:t>4.1%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97496" y="6492240"/>
            <a:ext cx="109728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700" b="1">
                <a:solidFill>
                  <a:srgbClr val="231F20"/>
                </a:solidFill>
                <a:latin typeface="Neue Montreal Bold"/>
              </a:rPr>
              <a:t>1.6M</a:t>
            </a:r>
          </a:p>
        </p:txBody>
      </p:sp>
      <p:sp>
        <p:nvSpPr>
          <p:cNvPr id="51" name="Table row"/>
          <p:cNvSpPr/>
          <p:nvPr/>
        </p:nvSpPr>
        <p:spPr>
          <a:xfrm>
            <a:off x="950976" y="6986016"/>
            <a:ext cx="7863840" cy="457200"/>
          </a:xfrm>
          <a:prstGeom prst="roundRect">
            <a:avLst>
              <a:gd name="adj" fmla="val 20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271016" y="6986016"/>
            <a:ext cx="265176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>
                <a:solidFill>
                  <a:srgbClr val="231F20"/>
                </a:solidFill>
                <a:latin typeface="Neue Montreal Bold"/>
              </a:rPr>
              <a:t>Hail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922776" y="6986016"/>
            <a:ext cx="128016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700">
                <a:solidFill>
                  <a:srgbClr val="231F20"/>
                </a:solidFill>
                <a:latin typeface="Neue Montreal"/>
              </a:rPr>
              <a:t>64.7%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202936" y="6986016"/>
            <a:ext cx="109728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700">
                <a:solidFill>
                  <a:srgbClr val="231F20"/>
                </a:solidFill>
                <a:latin typeface="Neue Montreal"/>
              </a:rPr>
              <a:t>0.3 pts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00216" y="6986016"/>
            <a:ext cx="109728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700">
                <a:solidFill>
                  <a:srgbClr val="231F20"/>
                </a:solidFill>
                <a:latin typeface="Neue Montreal"/>
              </a:rPr>
              <a:t>2.5%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397496" y="6986016"/>
            <a:ext cx="109728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700" b="1">
                <a:solidFill>
                  <a:srgbClr val="231F20"/>
                </a:solidFill>
                <a:latin typeface="Neue Montreal Bold"/>
              </a:rPr>
              <a:t>1.0M</a:t>
            </a:r>
          </a:p>
        </p:txBody>
      </p:sp>
      <p:sp>
        <p:nvSpPr>
          <p:cNvPr id="57" name="Table row"/>
          <p:cNvSpPr/>
          <p:nvPr/>
        </p:nvSpPr>
        <p:spPr>
          <a:xfrm>
            <a:off x="950976" y="7479792"/>
            <a:ext cx="7863840" cy="457200"/>
          </a:xfrm>
          <a:prstGeom prst="roundRect">
            <a:avLst>
              <a:gd name="adj" fmla="val 20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1271016" y="7479792"/>
            <a:ext cx="265176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>
                <a:solidFill>
                  <a:srgbClr val="231F20"/>
                </a:solidFill>
                <a:latin typeface="Neue Montreal Bold"/>
              </a:rPr>
              <a:t>Al-Jouf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922776" y="7479792"/>
            <a:ext cx="128016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700">
                <a:solidFill>
                  <a:srgbClr val="231F20"/>
                </a:solidFill>
                <a:latin typeface="Neue Montreal"/>
              </a:rPr>
              <a:t>64.8%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02936" y="7479792"/>
            <a:ext cx="109728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700">
                <a:solidFill>
                  <a:srgbClr val="231F20"/>
                </a:solidFill>
                <a:latin typeface="Neue Montreal"/>
              </a:rPr>
              <a:t>0.2 pts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300216" y="7479792"/>
            <a:ext cx="109728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700">
                <a:solidFill>
                  <a:srgbClr val="231F20"/>
                </a:solidFill>
                <a:latin typeface="Neue Montreal"/>
              </a:rPr>
              <a:t>1.6%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397496" y="7479792"/>
            <a:ext cx="109728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700" b="1">
                <a:solidFill>
                  <a:srgbClr val="231F20"/>
                </a:solidFill>
                <a:latin typeface="Neue Montreal Bold"/>
              </a:rPr>
              <a:t>0.7M</a:t>
            </a:r>
          </a:p>
        </p:txBody>
      </p:sp>
      <p:sp>
        <p:nvSpPr>
          <p:cNvPr id="63" name="Table row"/>
          <p:cNvSpPr/>
          <p:nvPr/>
        </p:nvSpPr>
        <p:spPr>
          <a:xfrm>
            <a:off x="950976" y="7973568"/>
            <a:ext cx="7863840" cy="457200"/>
          </a:xfrm>
          <a:prstGeom prst="roundRect">
            <a:avLst>
              <a:gd name="adj" fmla="val 20000"/>
            </a:avLst>
          </a:prstGeom>
          <a:solidFill>
            <a:srgbClr val="E5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1271016" y="7973568"/>
            <a:ext cx="265176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>
                <a:solidFill>
                  <a:srgbClr val="231F20"/>
                </a:solidFill>
                <a:latin typeface="Neue Montreal Bold"/>
              </a:rPr>
              <a:t>Total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922776" y="7973568"/>
            <a:ext cx="128016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5202936" y="7973568"/>
            <a:ext cx="109728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700" b="1">
                <a:solidFill>
                  <a:srgbClr val="231F20"/>
                </a:solidFill>
                <a:latin typeface="Neue Montreal Bold"/>
              </a:rPr>
              <a:t>12.2 pts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300216" y="7973568"/>
            <a:ext cx="109728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700" b="1">
                <a:solidFill>
                  <a:srgbClr val="231F20"/>
                </a:solidFill>
                <a:latin typeface="Neue Montreal Bold"/>
              </a:rPr>
              <a:t>100%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397496" y="7973568"/>
            <a:ext cx="109728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700" b="1">
                <a:solidFill>
                  <a:srgbClr val="231F20"/>
                </a:solidFill>
                <a:latin typeface="Neue Montreal Bold"/>
              </a:rPr>
              <a:t>40.0M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50976" y="8595360"/>
            <a:ext cx="786384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>
                <a:solidFill>
                  <a:srgbClr val="606060"/>
                </a:solidFill>
                <a:latin typeface="Neue Montreal"/>
              </a:rPr>
              <a:t>Shaded red = far behind (2+ pts): SAR 34.7M.  Grey = almost there: SAR 5.3M.</a:t>
            </a:r>
          </a:p>
        </p:txBody>
      </p:sp>
      <p:sp>
        <p:nvSpPr>
          <p:cNvPr id="72" name="How the split works"/>
          <p:cNvSpPr/>
          <p:nvPr/>
        </p:nvSpPr>
        <p:spPr>
          <a:xfrm>
            <a:off x="9098280" y="7086600"/>
            <a:ext cx="8229600" cy="1828800"/>
          </a:xfrm>
          <a:prstGeom prst="roundRect">
            <a:avLst>
              <a:gd name="adj" fmla="val 10000"/>
            </a:avLst>
          </a:prstGeom>
          <a:solidFill>
            <a:srgbClr val="007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9464040" y="7086600"/>
            <a:ext cx="7498079" cy="1828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Neue Montreal Bold"/>
              </a:rPr>
              <a:t>HOW THE SPLIT WORKS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900">
                <a:solidFill>
                  <a:srgbClr val="FFFFFF"/>
                </a:solidFill>
                <a:latin typeface="Neue Montreal"/>
              </a:rPr>
              <a:t>Share = region's gap ÷ 12.2 pts total. Najran: 4.1 ÷ 12.2 = 34% → SAR 13.4M.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>
                <a:solidFill>
                  <a:srgbClr val="FFFFFF"/>
                </a:solidFill>
                <a:latin typeface="Neue Montreal"/>
              </a:rPr>
              <a:t>Goal: all 13 regions at 65% or above by December.</a:t>
            </a:r>
          </a:p>
        </p:txBody>
      </p:sp>
      <p:pic>
        <p:nvPicPr>
          <p:cNvPr id="74" name="Picture 73">
            <a:extLst>
              <a:ext uri="{FF2B5EF4-FFF2-40B4-BE49-F238E27FC236}">
                <a16:creationId xmlns:a16="http://schemas.microsoft.com/office/drawing/2014/main" id="{2FD5BEB2-33EB-F439-6E33-A3A4178122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79" y="2403164"/>
            <a:ext cx="7772400" cy="454627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"/>
          <p:cNvSpPr txBox="1"/>
          <p:nvPr/>
        </p:nvSpPr>
        <p:spPr>
          <a:xfrm>
            <a:off x="950976" y="9336024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>
                <a:solidFill>
                  <a:srgbClr val="F5F5F5"/>
                </a:solidFill>
                <a:latin typeface="Neue Montreal"/>
              </a:rPr>
              <a:t>SDAIA Academy · SDA-DSC-112 Capstone</a:t>
            </a:r>
          </a:p>
        </p:txBody>
      </p:sp>
      <p:sp>
        <p:nvSpPr>
          <p:cNvPr id="7" name="Page number"/>
          <p:cNvSpPr txBox="1"/>
          <p:nvPr/>
        </p:nvSpPr>
        <p:spPr>
          <a:xfrm>
            <a:off x="14996159" y="9336024"/>
            <a:ext cx="233172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>
                <a:solidFill>
                  <a:srgbClr val="F5F5F5"/>
                </a:solidFill>
                <a:latin typeface="Neue Montreal"/>
              </a:rPr>
              <a:t>Page  07</a:t>
            </a:r>
          </a:p>
        </p:txBody>
      </p:sp>
      <p:sp>
        <p:nvSpPr>
          <p:cNvPr id="8" name="Eyebrow"/>
          <p:cNvSpPr txBox="1"/>
          <p:nvPr/>
        </p:nvSpPr>
        <p:spPr>
          <a:xfrm>
            <a:off x="950976" y="141732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0077FC"/>
                </a:solidFill>
                <a:latin typeface="Neue Montreal Bold"/>
              </a:rPr>
              <a:t>THE ASK</a:t>
            </a:r>
          </a:p>
        </p:txBody>
      </p:sp>
      <p:sp>
        <p:nvSpPr>
          <p:cNvPr id="9" name="Takeaway title"/>
          <p:cNvSpPr txBox="1"/>
          <p:nvPr/>
        </p:nvSpPr>
        <p:spPr>
          <a:xfrm>
            <a:off x="950976" y="1874519"/>
            <a:ext cx="16367759" cy="21031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0" b="1">
                <a:solidFill>
                  <a:srgbClr val="FFFFFF"/>
                </a:solidFill>
                <a:latin typeface="Neue Montreal Bold"/>
              </a:rPr>
              <a:t>Approve SAR 40M today for the 8 regions below 65%, weighted by gap</a:t>
            </a:r>
          </a:p>
        </p:txBody>
      </p:sp>
      <p:sp>
        <p:nvSpPr>
          <p:cNvPr id="10" name="Timeline line"/>
          <p:cNvSpPr/>
          <p:nvPr/>
        </p:nvSpPr>
        <p:spPr>
          <a:xfrm>
            <a:off x="1737360" y="5056632"/>
            <a:ext cx="14264640" cy="36576"/>
          </a:xfrm>
          <a:prstGeom prst="rect">
            <a:avLst/>
          </a:prstGeom>
          <a:solidFill>
            <a:srgbClr val="4A45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Step circle"/>
          <p:cNvSpPr/>
          <p:nvPr/>
        </p:nvSpPr>
        <p:spPr>
          <a:xfrm>
            <a:off x="950976" y="4526280"/>
            <a:ext cx="1097280" cy="1097280"/>
          </a:xfrm>
          <a:prstGeom prst="ellipse">
            <a:avLst/>
          </a:prstGeom>
          <a:solidFill>
            <a:srgbClr val="007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50976" y="4526280"/>
            <a:ext cx="1097280" cy="10972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Neue Montreal Bold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5897880"/>
            <a:ext cx="3721607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Neue Montreal Bold"/>
              </a:rPr>
              <a:t>Today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6446520"/>
            <a:ext cx="3630168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>
                <a:solidFill>
                  <a:srgbClr val="F5F5F5"/>
                </a:solidFill>
                <a:latin typeface="Neue Montreal"/>
              </a:rPr>
              <a:t>Committee approves the gap-weighted allocation</a:t>
            </a:r>
          </a:p>
        </p:txBody>
      </p:sp>
      <p:sp>
        <p:nvSpPr>
          <p:cNvPr id="15" name="Step circle"/>
          <p:cNvSpPr/>
          <p:nvPr/>
        </p:nvSpPr>
        <p:spPr>
          <a:xfrm>
            <a:off x="5038344" y="4526280"/>
            <a:ext cx="1097280" cy="10972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38344" y="4526280"/>
            <a:ext cx="1097280" cy="10972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077FC"/>
                </a:solidFill>
                <a:latin typeface="Neue Montreal Bol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38344" y="5897880"/>
            <a:ext cx="3721607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Neue Montreal Bold"/>
              </a:rPr>
              <a:t>Next month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38344" y="6446520"/>
            <a:ext cx="3630168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>
                <a:solidFill>
                  <a:srgbClr val="F5F5F5"/>
                </a:solidFill>
                <a:latin typeface="Neue Montreal"/>
              </a:rPr>
              <a:t>Funds released; regional plans launched</a:t>
            </a:r>
          </a:p>
        </p:txBody>
      </p:sp>
      <p:sp>
        <p:nvSpPr>
          <p:cNvPr id="19" name="Step circle"/>
          <p:cNvSpPr/>
          <p:nvPr/>
        </p:nvSpPr>
        <p:spPr>
          <a:xfrm>
            <a:off x="9125712" y="4526280"/>
            <a:ext cx="1097280" cy="10972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25712" y="4526280"/>
            <a:ext cx="1097280" cy="10972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077FC"/>
                </a:solidFill>
                <a:latin typeface="Neue Montreal Bol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25712" y="5897880"/>
            <a:ext cx="3721607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Neue Montreal Bold"/>
              </a:rPr>
              <a:t>Monthly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25712" y="6446520"/>
            <a:ext cx="3630168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>
                <a:solidFill>
                  <a:srgbClr val="F5F5F5"/>
                </a:solidFill>
                <a:latin typeface="Neue Montreal"/>
              </a:rPr>
              <a:t>Adoption checkpoint on the Tableau dashboard</a:t>
            </a:r>
          </a:p>
        </p:txBody>
      </p:sp>
      <p:sp>
        <p:nvSpPr>
          <p:cNvPr id="23" name="Step circle"/>
          <p:cNvSpPr/>
          <p:nvPr/>
        </p:nvSpPr>
        <p:spPr>
          <a:xfrm>
            <a:off x="13213080" y="4526280"/>
            <a:ext cx="1097280" cy="1097280"/>
          </a:xfrm>
          <a:prstGeom prst="ellipse">
            <a:avLst/>
          </a:prstGeom>
          <a:solidFill>
            <a:srgbClr val="007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3213080" y="4526280"/>
            <a:ext cx="1097280" cy="10972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Neue Montreal Bold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213080" y="5897880"/>
            <a:ext cx="3721607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Neue Montreal Bold"/>
              </a:rPr>
              <a:t>December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13080" y="6446520"/>
            <a:ext cx="3630168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>
                <a:solidFill>
                  <a:srgbClr val="F5F5F5"/>
                </a:solidFill>
                <a:latin typeface="Neue Montreal"/>
              </a:rPr>
              <a:t>All 13 regions at 65% or above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1380</TotalTime>
  <Words>614</Words>
  <Application>Microsoft Macintosh PowerPoint</Application>
  <PresentationFormat>Custom</PresentationFormat>
  <Paragraphs>145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Neue Montreal Medium</vt:lpstr>
      <vt:lpstr>Neue Montreal</vt:lpstr>
      <vt:lpstr>Arial</vt:lpstr>
      <vt:lpstr>Neue Montreal 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Tayseer_SlideDeck</dc:title>
  <dc:subject/>
  <dc:creator/>
  <cp:keywords/>
  <dc:description/>
  <cp:lastModifiedBy>عبدالعزيز الفريح ID 445101582</cp:lastModifiedBy>
  <cp:revision>5</cp:revision>
  <dcterms:created xsi:type="dcterms:W3CDTF">2006-08-16T00:00:00Z</dcterms:created>
  <dcterms:modified xsi:type="dcterms:W3CDTF">2026-10-07T14:56:07Z</dcterms:modified>
  <cp:category/>
  <dc:identifier>DAHVLOqsf5U</dc:identifier>
</cp:coreProperties>
</file>